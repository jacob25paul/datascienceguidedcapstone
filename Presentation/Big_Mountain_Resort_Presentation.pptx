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2FB67-906F-2348-A8ED-72C1F89924CD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966EAF-DC55-A942-BDE2-2EA8968B6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75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82D4-10B3-45CE-D7A1-A01EE7749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AD7C1-E650-75CD-A45B-B5151E23B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C261B-C14E-1239-1896-7F022A0A1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9D59C-3A22-A649-B987-A8C2EE856B3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C6989-4A9F-71BB-C4F9-5750AA1C8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3974D-6A5E-B5A6-3C50-4FCFD271A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E369-6ACE-114A-A3EE-41FC40ED2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40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464B-8E8A-8F50-BC69-694810ADD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BA804-BDA0-B1B9-D1B7-DB7FE25E6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130A9-A663-0723-39A0-E77ED904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9D59C-3A22-A649-B987-A8C2EE856B3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0EDDA-B893-1AE7-6518-C19321D1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7E243-7D7C-8F50-7DA3-57BBAE35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E369-6ACE-114A-A3EE-41FC40ED2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2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DBAB-B6CB-90C8-00F5-FD07F5D03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FE1BE-A0AE-D0B7-1E2B-003999872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8DD9B-441A-4A0B-7DA7-E4DC09A03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9D59C-3A22-A649-B987-A8C2EE856B3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655DB-D88F-1F31-A024-6FE492778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52075-BB05-280E-9DB6-4577E34C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E369-6ACE-114A-A3EE-41FC40ED2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762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24C68-2EE3-F5D6-F013-7853559E7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333B5-DF81-D6AF-8B5A-99B51251B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0E0D6-2364-3E6B-4A3D-99221EC29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E457A-642F-CE3E-43E9-500AC935D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9D59C-3A22-A649-B987-A8C2EE856B3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88B0E-5661-D7D9-9658-71BDE52F6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F27DE-5D70-CA3D-4029-BAD95E55B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E369-6ACE-114A-A3EE-41FC40ED2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81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66D0D-6563-45B0-F453-A26310CC4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8DD6C-8C8F-B01B-24A2-203335260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2CD94-7177-C81D-BC4A-55E5D2F72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EC0CC6-C8B6-3EAC-0FB1-156D57A69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711E89-ED17-EA71-ACDE-B33B900EC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359462-FA95-DEC4-0A2B-DBFFFADBB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9D59C-3A22-A649-B987-A8C2EE856B3E}" type="datetimeFigureOut">
              <a:rPr lang="en-US" smtClean="0"/>
              <a:t>4/4/26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615DC-99D5-73D9-5613-6A2E92602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8F700-75D9-93E5-7CF9-3D6E5523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E369-6ACE-114A-A3EE-41FC40ED2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47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2BD3E-6758-E8C7-3398-261FE86AB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E8F167-1DEA-C1B2-E7D0-46F4E688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9D59C-3A22-A649-B987-A8C2EE856B3E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444FA4-2BE3-805B-2850-40752EBF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10A622-C7FE-35BF-7C3F-9A2D2AF1A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E369-6ACE-114A-A3EE-41FC40ED2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982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8D8E9A-DECA-28DD-5D4D-DBE0E8B6E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9D59C-3A22-A649-B987-A8C2EE856B3E}" type="datetimeFigureOut">
              <a:rPr lang="en-US" smtClean="0"/>
              <a:t>4/4/26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C79B03-1C8A-57E2-D870-F27E71D70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98A4B-2E8F-3108-12A6-805013264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E369-6ACE-114A-A3EE-41FC40ED2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79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994C8-A0F4-8E71-A2BF-66DFFF4F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761E2-7B4E-7C19-4B53-9450F8236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6FE5E-97C0-FE2A-1E3F-DF968D4C0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FB5A3-CE74-5AC3-DA01-D00AD4E7A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9D59C-3A22-A649-B987-A8C2EE856B3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C02E0-365C-0162-1F2A-E23BEAAFD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ED36A-E209-361D-7E1F-5A70343E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E369-6ACE-114A-A3EE-41FC40ED2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31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9130-6CE4-1B9E-18C7-EA22FB717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6D77EC-53F6-5BF3-CE5D-2C1D536D1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F1C482-4789-16F3-0242-A00F8F549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472B6-AB92-5D87-D834-2B73D915C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9D59C-3A22-A649-B987-A8C2EE856B3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09406-93F8-0326-6BBA-79DA5AEA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6BCC3-613E-4F6C-DC8D-451D4E874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E369-6ACE-114A-A3EE-41FC40ED2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47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1109B-0AC0-008A-AEF0-77DC8F58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8D83B-871C-7133-6967-F3E04CA66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B2E54-E779-019E-06F2-35DE793BE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9D59C-3A22-A649-B987-A8C2EE856B3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E9817-CBB0-33C8-EAE0-C74CFD761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6B0FA-8D6C-E0DA-C562-F9881287C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E369-6ACE-114A-A3EE-41FC40ED2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71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FDE1F5-FA3E-ECA8-8C1E-B6EDAEF8E0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B0D85C-1553-B5FD-4DDD-22A4E1E54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DB752-8434-74EB-AFB3-F10E40289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9D59C-3A22-A649-B987-A8C2EE856B3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84A5D-BA32-A1EF-604E-378F7D4CD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93E28-D978-1C02-03FF-38ACF0BE9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E369-6ACE-114A-A3EE-41FC40ED2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16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6982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89B732-DAB5-4F12-5625-448892556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08A6D-ECFC-3759-4880-BC961E114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09CCB-2221-13E3-58FD-D3171D648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89D59C-3A22-A649-B987-A8C2EE856B3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20E27-4865-0CF5-320F-64B8B9CD2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DAB84-EA39-0F3B-72C5-B65E755E4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1E369-6ACE-114A-A3EE-41FC40ED2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92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9509760" y="48768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182880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Mountain Resort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609600" y="286512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dirty="0">
                <a:solidFill>
                  <a:srgbClr val="8A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 Ticket Pricing Strategy</a:t>
            </a:r>
            <a:endParaRPr lang="en-US" sz="2933" dirty="0"/>
          </a:p>
        </p:txBody>
      </p:sp>
      <p:sp>
        <p:nvSpPr>
          <p:cNvPr id="6" name="Shape 3"/>
          <p:cNvSpPr/>
          <p:nvPr/>
        </p:nvSpPr>
        <p:spPr>
          <a:xfrm>
            <a:off x="609600" y="3657600"/>
            <a:ext cx="4267200" cy="609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4"/>
          <p:cNvSpPr/>
          <p:nvPr/>
        </p:nvSpPr>
        <p:spPr>
          <a:xfrm>
            <a:off x="609600" y="390144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7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  |  Data Science Capstone Project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9600" y="5242560"/>
            <a:ext cx="3413760" cy="1219200"/>
          </a:xfrm>
          <a:prstGeom prst="rect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6"/>
          <p:cNvSpPr/>
          <p:nvPr/>
        </p:nvSpPr>
        <p:spPr>
          <a:xfrm>
            <a:off x="609600" y="530352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330</a:t>
            </a:r>
            <a:endParaRPr lang="en-US" sz="4267" dirty="0"/>
          </a:p>
        </p:txBody>
      </p:sp>
      <p:sp>
        <p:nvSpPr>
          <p:cNvPr id="10" name="Text 7"/>
          <p:cNvSpPr/>
          <p:nvPr/>
        </p:nvSpPr>
        <p:spPr>
          <a:xfrm>
            <a:off x="609600" y="5827776"/>
            <a:ext cx="34137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AACCDD"/>
                </a:solidFill>
              </a:rPr>
              <a:t>U.S. ski resorts analyzed</a:t>
            </a:r>
            <a:endParaRPr lang="en-US" sz="1333" dirty="0"/>
          </a:p>
        </p:txBody>
      </p:sp>
      <p:sp>
        <p:nvSpPr>
          <p:cNvPr id="11" name="Shape 8"/>
          <p:cNvSpPr/>
          <p:nvPr/>
        </p:nvSpPr>
        <p:spPr>
          <a:xfrm>
            <a:off x="4267200" y="5242560"/>
            <a:ext cx="3413760" cy="1219200"/>
          </a:xfrm>
          <a:prstGeom prst="rect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9"/>
          <p:cNvSpPr/>
          <p:nvPr/>
        </p:nvSpPr>
        <p:spPr>
          <a:xfrm>
            <a:off x="4267200" y="530352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2667" dirty="0"/>
          </a:p>
        </p:txBody>
      </p:sp>
      <p:sp>
        <p:nvSpPr>
          <p:cNvPr id="13" name="Text 10"/>
          <p:cNvSpPr/>
          <p:nvPr/>
        </p:nvSpPr>
        <p:spPr>
          <a:xfrm>
            <a:off x="4267200" y="5827776"/>
            <a:ext cx="34137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AACCDD"/>
                </a:solidFill>
              </a:rPr>
              <a:t>Predictive model used</a:t>
            </a:r>
            <a:endParaRPr lang="en-US" sz="1333" dirty="0"/>
          </a:p>
        </p:txBody>
      </p:sp>
      <p:sp>
        <p:nvSpPr>
          <p:cNvPr id="14" name="Shape 11"/>
          <p:cNvSpPr/>
          <p:nvPr/>
        </p:nvSpPr>
        <p:spPr>
          <a:xfrm>
            <a:off x="7924800" y="5242560"/>
            <a:ext cx="3657600" cy="1219200"/>
          </a:xfrm>
          <a:prstGeom prst="rect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2"/>
          <p:cNvSpPr/>
          <p:nvPr/>
        </p:nvSpPr>
        <p:spPr>
          <a:xfrm>
            <a:off x="7924800" y="5303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~$9.40</a:t>
            </a:r>
            <a:endParaRPr lang="en-US" sz="4267" dirty="0"/>
          </a:p>
        </p:txBody>
      </p:sp>
      <p:sp>
        <p:nvSpPr>
          <p:cNvPr id="16" name="Text 13"/>
          <p:cNvSpPr/>
          <p:nvPr/>
        </p:nvSpPr>
        <p:spPr>
          <a:xfrm>
            <a:off x="7924800" y="5827776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AACCDD"/>
                </a:solidFill>
              </a:rPr>
              <a:t>Model avg. error (MAE)</a:t>
            </a:r>
            <a:endParaRPr lang="en-US" sz="13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0B6E7A"/>
                </a:solidFill>
              </a:rPr>
              <a:t>PROBLEM IDENTIFICATION</a:t>
            </a:r>
            <a:endParaRPr lang="en-US" sz="1067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48768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87680" y="1402080"/>
            <a:ext cx="6705600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487680" y="1402080"/>
            <a:ext cx="97536" cy="1402080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" y="1767840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4000" y="1524000"/>
            <a:ext cx="5364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Chairlift Installed</a:t>
            </a:r>
            <a:endParaRPr lang="en-US" sz="1733" dirty="0"/>
          </a:p>
        </p:txBody>
      </p:sp>
      <p:sp>
        <p:nvSpPr>
          <p:cNvPr id="9" name="Text 6"/>
          <p:cNvSpPr/>
          <p:nvPr/>
        </p:nvSpPr>
        <p:spPr>
          <a:xfrm>
            <a:off x="1524000" y="1950720"/>
            <a:ext cx="536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costs increased by $1,540,000 per season — revenue must keep pace.</a:t>
            </a:r>
            <a:endParaRPr lang="en-US" sz="1467" dirty="0"/>
          </a:p>
        </p:txBody>
      </p:sp>
      <p:sp>
        <p:nvSpPr>
          <p:cNvPr id="10" name="Shape 7"/>
          <p:cNvSpPr/>
          <p:nvPr/>
        </p:nvSpPr>
        <p:spPr>
          <a:xfrm>
            <a:off x="487680" y="3048000"/>
            <a:ext cx="6705600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8"/>
          <p:cNvSpPr/>
          <p:nvPr/>
        </p:nvSpPr>
        <p:spPr>
          <a:xfrm>
            <a:off x="487680" y="3048000"/>
            <a:ext cx="97536" cy="1402080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" y="3413760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24000" y="3169920"/>
            <a:ext cx="5364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Current Pricing Right?</a:t>
            </a:r>
            <a:endParaRPr lang="en-US" sz="1733" dirty="0"/>
          </a:p>
        </p:txBody>
      </p:sp>
      <p:sp>
        <p:nvSpPr>
          <p:cNvPr id="14" name="Text 10"/>
          <p:cNvSpPr/>
          <p:nvPr/>
        </p:nvSpPr>
        <p:spPr>
          <a:xfrm>
            <a:off x="1524000" y="3596640"/>
            <a:ext cx="536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$81/ticket, is Big Mountain priced correctly given its facilities and the market?</a:t>
            </a:r>
            <a:endParaRPr lang="en-US" sz="1467" dirty="0"/>
          </a:p>
        </p:txBody>
      </p:sp>
      <p:sp>
        <p:nvSpPr>
          <p:cNvPr id="15" name="Shape 11"/>
          <p:cNvSpPr/>
          <p:nvPr/>
        </p:nvSpPr>
        <p:spPr>
          <a:xfrm>
            <a:off x="487680" y="4693920"/>
            <a:ext cx="6705600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Shape 12"/>
          <p:cNvSpPr/>
          <p:nvPr/>
        </p:nvSpPr>
        <p:spPr>
          <a:xfrm>
            <a:off x="487680" y="4693920"/>
            <a:ext cx="97536" cy="1402080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80" y="5059680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24000" y="4815840"/>
            <a:ext cx="5364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 Answer Needed</a:t>
            </a:r>
            <a:endParaRPr lang="en-US" sz="1733" dirty="0"/>
          </a:p>
        </p:txBody>
      </p:sp>
      <p:sp>
        <p:nvSpPr>
          <p:cNvPr id="19" name="Text 14"/>
          <p:cNvSpPr/>
          <p:nvPr/>
        </p:nvSpPr>
        <p:spPr>
          <a:xfrm>
            <a:off x="1524000" y="5242560"/>
            <a:ext cx="536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U.S. resort records analyzed to determine the fair market ticket price.</a:t>
            </a:r>
            <a:endParaRPr lang="en-US" sz="1467" dirty="0"/>
          </a:p>
        </p:txBody>
      </p:sp>
      <p:sp>
        <p:nvSpPr>
          <p:cNvPr id="20" name="Shape 15"/>
          <p:cNvSpPr/>
          <p:nvPr/>
        </p:nvSpPr>
        <p:spPr>
          <a:xfrm>
            <a:off x="7437120" y="1219200"/>
            <a:ext cx="4267200" cy="5364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6"/>
          <p:cNvSpPr/>
          <p:nvPr/>
        </p:nvSpPr>
        <p:spPr>
          <a:xfrm>
            <a:off x="7437120" y="1341120"/>
            <a:ext cx="42672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Mountain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a Glance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802880" y="2218944"/>
            <a:ext cx="3535680" cy="48768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18"/>
          <p:cNvSpPr/>
          <p:nvPr/>
        </p:nvSpPr>
        <p:spPr>
          <a:xfrm>
            <a:off x="7437120" y="2438400"/>
            <a:ext cx="42672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2,353 ft</a:t>
            </a:r>
            <a:endParaRPr lang="en-US" sz="2933" dirty="0"/>
          </a:p>
        </p:txBody>
      </p:sp>
      <p:sp>
        <p:nvSpPr>
          <p:cNvPr id="24" name="Text 19"/>
          <p:cNvSpPr/>
          <p:nvPr/>
        </p:nvSpPr>
        <p:spPr>
          <a:xfrm>
            <a:off x="7437120" y="2865120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8AACB8"/>
                </a:solidFill>
              </a:rPr>
              <a:t>Vertical Drop</a:t>
            </a:r>
            <a:endParaRPr lang="en-US" sz="1333" dirty="0"/>
          </a:p>
        </p:txBody>
      </p:sp>
      <p:sp>
        <p:nvSpPr>
          <p:cNvPr id="25" name="Text 20"/>
          <p:cNvSpPr/>
          <p:nvPr/>
        </p:nvSpPr>
        <p:spPr>
          <a:xfrm>
            <a:off x="7437120" y="3291840"/>
            <a:ext cx="42672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105</a:t>
            </a:r>
            <a:endParaRPr lang="en-US" sz="2933" dirty="0"/>
          </a:p>
        </p:txBody>
      </p:sp>
      <p:sp>
        <p:nvSpPr>
          <p:cNvPr id="26" name="Text 21"/>
          <p:cNvSpPr/>
          <p:nvPr/>
        </p:nvSpPr>
        <p:spPr>
          <a:xfrm>
            <a:off x="7437120" y="3718560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8AACB8"/>
                </a:solidFill>
              </a:rPr>
              <a:t>Total Runs</a:t>
            </a:r>
            <a:endParaRPr lang="en-US" sz="1333" dirty="0"/>
          </a:p>
        </p:txBody>
      </p:sp>
      <p:sp>
        <p:nvSpPr>
          <p:cNvPr id="27" name="Text 22"/>
          <p:cNvSpPr/>
          <p:nvPr/>
        </p:nvSpPr>
        <p:spPr>
          <a:xfrm>
            <a:off x="7437120" y="4145280"/>
            <a:ext cx="42672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933" dirty="0"/>
          </a:p>
        </p:txBody>
      </p:sp>
      <p:sp>
        <p:nvSpPr>
          <p:cNvPr id="28" name="Text 23"/>
          <p:cNvSpPr/>
          <p:nvPr/>
        </p:nvSpPr>
        <p:spPr>
          <a:xfrm>
            <a:off x="7437120" y="4572000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8AACB8"/>
                </a:solidFill>
              </a:rPr>
              <a:t>Fast Quads</a:t>
            </a:r>
            <a:endParaRPr lang="en-US" sz="1333" dirty="0"/>
          </a:p>
        </p:txBody>
      </p:sp>
      <p:sp>
        <p:nvSpPr>
          <p:cNvPr id="29" name="Text 24"/>
          <p:cNvSpPr/>
          <p:nvPr/>
        </p:nvSpPr>
        <p:spPr>
          <a:xfrm>
            <a:off x="7437120" y="4998720"/>
            <a:ext cx="42672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3,000+ ac</a:t>
            </a:r>
            <a:endParaRPr lang="en-US" sz="2933" dirty="0"/>
          </a:p>
        </p:txBody>
      </p:sp>
      <p:sp>
        <p:nvSpPr>
          <p:cNvPr id="30" name="Text 25"/>
          <p:cNvSpPr/>
          <p:nvPr/>
        </p:nvSpPr>
        <p:spPr>
          <a:xfrm>
            <a:off x="7437120" y="5425440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8AACB8"/>
                </a:solidFill>
              </a:rPr>
              <a:t>Skiable Terrain</a:t>
            </a:r>
            <a:endParaRPr lang="en-US" sz="1333" dirty="0"/>
          </a:p>
        </p:txBody>
      </p:sp>
      <p:sp>
        <p:nvSpPr>
          <p:cNvPr id="31" name="Text 26"/>
          <p:cNvSpPr/>
          <p:nvPr/>
        </p:nvSpPr>
        <p:spPr>
          <a:xfrm>
            <a:off x="7437120" y="5852160"/>
            <a:ext cx="42672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$81</a:t>
            </a:r>
            <a:endParaRPr lang="en-US" sz="2933" dirty="0"/>
          </a:p>
        </p:txBody>
      </p:sp>
      <p:sp>
        <p:nvSpPr>
          <p:cNvPr id="32" name="Text 27"/>
          <p:cNvSpPr/>
          <p:nvPr/>
        </p:nvSpPr>
        <p:spPr>
          <a:xfrm>
            <a:off x="7437120" y="6278880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8AACB8"/>
                </a:solidFill>
              </a:rPr>
              <a:t>Current Ticket Price</a:t>
            </a:r>
            <a:endParaRPr lang="en-US" sz="1333" dirty="0"/>
          </a:p>
        </p:txBody>
      </p:sp>
      <p:sp>
        <p:nvSpPr>
          <p:cNvPr id="33" name="Text 28"/>
          <p:cNvSpPr/>
          <p:nvPr/>
        </p:nvSpPr>
        <p:spPr>
          <a:xfrm>
            <a:off x="11338560" y="6339840"/>
            <a:ext cx="48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4A7A8A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4AABB8"/>
                </a:solidFill>
              </a:rPr>
              <a:t>KEY FINDINGS &amp; RECOMMENDATION</a:t>
            </a:r>
            <a:endParaRPr lang="en-US" sz="1067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Model Tells Us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09600" y="1341120"/>
            <a:ext cx="3413760" cy="2438400"/>
          </a:xfrm>
          <a:prstGeom prst="rect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463040"/>
            <a:ext cx="34137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AACB8"/>
                </a:solidFill>
              </a:rPr>
              <a:t>Current Price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609600" y="1889760"/>
            <a:ext cx="34137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$81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09600" y="2828544"/>
            <a:ext cx="341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8AACB8"/>
                </a:solidFill>
              </a:rPr>
              <a:t>per ticket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609600" y="3230880"/>
            <a:ext cx="341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E8A838"/>
                </a:solidFill>
              </a:rPr>
              <a:t>Montana's #1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4206240" y="2377440"/>
            <a:ext cx="731520" cy="21945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815840" y="2255520"/>
            <a:ext cx="487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E8A838"/>
                </a:solidFill>
              </a:rPr>
              <a:t>▶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25440" y="1341120"/>
            <a:ext cx="3413760" cy="2438400"/>
          </a:xfrm>
          <a:prstGeom prst="rect">
            <a:avLst/>
          </a:prstGeom>
          <a:solidFill>
            <a:srgbClr val="0B3D52"/>
          </a:solidFill>
          <a:ln w="12700">
            <a:solidFill>
              <a:srgbClr val="0B6E7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5425440" y="1463040"/>
            <a:ext cx="34137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AACB8"/>
                </a:solidFill>
              </a:rPr>
              <a:t>Model Fair Value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5425440" y="1889760"/>
            <a:ext cx="34137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4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$97.96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5425440" y="2828544"/>
            <a:ext cx="341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8AACB8"/>
                </a:solidFill>
              </a:rPr>
              <a:t>per ticket</a:t>
            </a:r>
            <a:endParaRPr lang="en-US" sz="1333" dirty="0"/>
          </a:p>
        </p:txBody>
      </p:sp>
      <p:sp>
        <p:nvSpPr>
          <p:cNvPr id="16" name="Text 14"/>
          <p:cNvSpPr/>
          <p:nvPr/>
        </p:nvSpPr>
        <p:spPr>
          <a:xfrm>
            <a:off x="5425440" y="3230880"/>
            <a:ext cx="341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CC8833"/>
                </a:solidFill>
              </a:rPr>
              <a:t>±$9–10 error margin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9022080" y="1341120"/>
            <a:ext cx="2682240" cy="2438400"/>
          </a:xfrm>
          <a:prstGeom prst="rect">
            <a:avLst/>
          </a:prstGeom>
          <a:solidFill>
            <a:srgbClr val="071E2E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9022080" y="1463040"/>
            <a:ext cx="26822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AACB8"/>
                </a:solidFill>
              </a:rPr>
              <a:t>Gap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9022080" y="1889760"/>
            <a:ext cx="26822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+$16.96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9022080" y="2743200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8AACB8"/>
                </a:solidFill>
              </a:rPr>
              <a:t>per ticket</a:t>
            </a: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9022080" y="3145536"/>
            <a:ext cx="26822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E8A838"/>
                </a:solidFill>
              </a:rPr>
              <a:t>~$5.9M/yr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E8A838"/>
                </a:solidFill>
              </a:rPr>
              <a:t>potential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609600" y="4023360"/>
            <a:ext cx="11094720" cy="2255520"/>
          </a:xfrm>
          <a:prstGeom prst="rect">
            <a:avLst/>
          </a:prstGeom>
          <a:solidFill>
            <a:srgbClr val="071E2E"/>
          </a:solidFill>
          <a:ln w="12700">
            <a:solidFill>
              <a:srgbClr val="CC88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4267200"/>
            <a:ext cx="487680" cy="4876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63040" y="4120896"/>
            <a:ext cx="975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Important Caveat</a:t>
            </a:r>
            <a:endParaRPr lang="en-US" sz="1733" dirty="0"/>
          </a:p>
        </p:txBody>
      </p:sp>
      <p:sp>
        <p:nvSpPr>
          <p:cNvPr id="25" name="Text 22"/>
          <p:cNvSpPr/>
          <p:nvPr/>
        </p:nvSpPr>
        <p:spPr>
          <a:xfrm>
            <a:off x="1463040" y="4535424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Mountain already holds the #1 ticket price in Montana. The $97.96 model value benchmarks against national resorts in Colorado and Utah — a different competitive set. Given the ±$9–10 error margin and unaccounted customer costs (lodging, food, rentals), any price increase should be approached cautiously and validated with customer research before implementation.</a:t>
            </a:r>
            <a:endParaRPr lang="en-US" sz="1467" dirty="0"/>
          </a:p>
        </p:txBody>
      </p:sp>
      <p:sp>
        <p:nvSpPr>
          <p:cNvPr id="26" name="Text 23"/>
          <p:cNvSpPr/>
          <p:nvPr/>
        </p:nvSpPr>
        <p:spPr>
          <a:xfrm>
            <a:off x="11338560" y="6339840"/>
            <a:ext cx="48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8AACB8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0B6E7A"/>
                </a:solidFill>
              </a:rPr>
              <a:t>MODELING RESULTS &amp; ANALYSIS</a:t>
            </a:r>
            <a:endParaRPr lang="en-US" sz="1067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36576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Big Mountain Stands Nationally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609600" y="1072896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A7A8A"/>
                </a:solidFill>
              </a:rPr>
              <a:t>Ticket price distribution across all 277 U.S. ski resorts — Big Mountain's $81 sits near the national median, not below it.</a:t>
            </a:r>
            <a:endParaRPr lang="en-US" sz="1467" dirty="0"/>
          </a:p>
        </p:txBody>
      </p:sp>
      <p:pic>
        <p:nvPicPr>
          <p:cNvPr id="6" name="Image 0" descr="/home/claude/figures/05_modeling_cell34_fig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7680" y="1584960"/>
            <a:ext cx="11216640" cy="4876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0" y="6339840"/>
            <a:ext cx="48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4A7A8A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0B6E7A"/>
                </a:solidFill>
              </a:rPr>
              <a:t>MODELING RESULTS &amp; ANALYSIS</a:t>
            </a:r>
            <a:endParaRPr lang="en-US" sz="1067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36576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Mountain Leads in Its Home Market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609600" y="1072896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A7A8A"/>
                </a:solidFill>
              </a:rPr>
              <a:t>Among Montana resorts, Big Mountain already commands the highest ticket price — raising price further risks losing local market share.</a:t>
            </a:r>
            <a:endParaRPr lang="en-US" sz="1467" dirty="0"/>
          </a:p>
        </p:txBody>
      </p:sp>
      <p:pic>
        <p:nvPicPr>
          <p:cNvPr id="6" name="Image 0" descr="/home/claude/figures/05_modeling_cell35_fig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7680" y="1584960"/>
            <a:ext cx="11216640" cy="4876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0" y="6339840"/>
            <a:ext cx="48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4A7A8A"/>
                </a:solidFill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0B6E7A"/>
                </a:solidFill>
              </a:rPr>
              <a:t>MODELING RESULTS &amp; ANALYSIS</a:t>
            </a:r>
            <a:endParaRPr lang="en-US" sz="1067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365760"/>
            <a:ext cx="67056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Drives Ticket Price?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609600" y="1072896"/>
            <a:ext cx="670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A7A8A"/>
                </a:solidFill>
              </a:rPr>
              <a:t>Top 5 pricing drivers identified by the Random Forest model.</a:t>
            </a:r>
            <a:endParaRPr lang="en-US" sz="1467" dirty="0"/>
          </a:p>
        </p:txBody>
      </p:sp>
      <p:pic>
        <p:nvPicPr>
          <p:cNvPr id="6" name="Image 0" descr="/home/claude/figures/04_preprocessing_cell201_fig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341120"/>
            <a:ext cx="6827520" cy="5242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0" y="426720"/>
            <a:ext cx="45110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Summary</a:t>
            </a:r>
            <a:endParaRPr lang="en-US" sz="1867" dirty="0"/>
          </a:p>
        </p:txBody>
      </p:sp>
      <p:sp>
        <p:nvSpPr>
          <p:cNvPr id="8" name="Shape 5"/>
          <p:cNvSpPr/>
          <p:nvPr/>
        </p:nvSpPr>
        <p:spPr>
          <a:xfrm>
            <a:off x="7193280" y="1097280"/>
            <a:ext cx="4754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6"/>
          <p:cNvSpPr/>
          <p:nvPr/>
        </p:nvSpPr>
        <p:spPr>
          <a:xfrm>
            <a:off x="7193280" y="1097280"/>
            <a:ext cx="97536" cy="1645920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7"/>
          <p:cNvSpPr/>
          <p:nvPr/>
        </p:nvSpPr>
        <p:spPr>
          <a:xfrm>
            <a:off x="7437120" y="1219200"/>
            <a:ext cx="426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2137"/>
                </a:solidFill>
              </a:rPr>
              <a:t>Scenario: Chair Lift</a:t>
            </a:r>
            <a:endParaRPr lang="en-US" sz="1467" dirty="0"/>
          </a:p>
        </p:txBody>
      </p:sp>
      <p:sp>
        <p:nvSpPr>
          <p:cNvPr id="11" name="Text 8"/>
          <p:cNvSpPr/>
          <p:nvPr/>
        </p:nvSpPr>
        <p:spPr>
          <a:xfrm>
            <a:off x="7437120" y="1609344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A7A8A"/>
                </a:solidFill>
              </a:rPr>
              <a:t>Price impact: +$2.22</a:t>
            </a:r>
            <a:endParaRPr lang="en-US" sz="1467" dirty="0"/>
          </a:p>
        </p:txBody>
      </p:sp>
      <p:sp>
        <p:nvSpPr>
          <p:cNvPr id="12" name="Text 9"/>
          <p:cNvSpPr/>
          <p:nvPr/>
        </p:nvSpPr>
        <p:spPr>
          <a:xfrm>
            <a:off x="7437120" y="1926336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A7A8A"/>
                </a:solidFill>
              </a:rPr>
              <a:t>Revenue impact: +$3.9M/yr</a:t>
            </a:r>
            <a:endParaRPr lang="en-US" sz="1467" dirty="0"/>
          </a:p>
        </p:txBody>
      </p:sp>
      <p:sp>
        <p:nvSpPr>
          <p:cNvPr id="13" name="Text 10"/>
          <p:cNvSpPr/>
          <p:nvPr/>
        </p:nvSpPr>
        <p:spPr>
          <a:xfrm>
            <a:off x="11094720" y="1609344"/>
            <a:ext cx="8534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B6E7A"/>
                </a:solidFill>
              </a:rPr>
              <a:t>+$2.22</a:t>
            </a:r>
            <a:endParaRPr lang="en-US" sz="1867" dirty="0"/>
          </a:p>
        </p:txBody>
      </p:sp>
      <p:sp>
        <p:nvSpPr>
          <p:cNvPr id="14" name="Shape 11"/>
          <p:cNvSpPr/>
          <p:nvPr/>
        </p:nvSpPr>
        <p:spPr>
          <a:xfrm>
            <a:off x="7193280" y="2987040"/>
            <a:ext cx="4754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Shape 12"/>
          <p:cNvSpPr/>
          <p:nvPr/>
        </p:nvSpPr>
        <p:spPr>
          <a:xfrm>
            <a:off x="7193280" y="2987040"/>
            <a:ext cx="97536" cy="1645920"/>
          </a:xfrm>
          <a:prstGeom prst="rect">
            <a:avLst/>
          </a:prstGeom>
          <a:solidFill>
            <a:srgbClr val="3A7A5A"/>
          </a:solidFill>
          <a:ln w="12700">
            <a:solidFill>
              <a:srgbClr val="3A7A5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3"/>
          <p:cNvSpPr/>
          <p:nvPr/>
        </p:nvSpPr>
        <p:spPr>
          <a:xfrm>
            <a:off x="7437120" y="3108960"/>
            <a:ext cx="426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2137"/>
                </a:solidFill>
              </a:rPr>
              <a:t>Scenario: Close 4–5 Runs</a:t>
            </a:r>
            <a:endParaRPr lang="en-US" sz="1467" dirty="0"/>
          </a:p>
        </p:txBody>
      </p:sp>
      <p:sp>
        <p:nvSpPr>
          <p:cNvPr id="17" name="Text 14"/>
          <p:cNvSpPr/>
          <p:nvPr/>
        </p:nvSpPr>
        <p:spPr>
          <a:xfrm>
            <a:off x="7437120" y="3499104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A7A8A"/>
                </a:solidFill>
              </a:rPr>
              <a:t>Price impact: &lt; −$1.50</a:t>
            </a:r>
            <a:endParaRPr lang="en-US" sz="1467" dirty="0"/>
          </a:p>
        </p:txBody>
      </p:sp>
      <p:sp>
        <p:nvSpPr>
          <p:cNvPr id="18" name="Text 15"/>
          <p:cNvSpPr/>
          <p:nvPr/>
        </p:nvSpPr>
        <p:spPr>
          <a:xfrm>
            <a:off x="7437120" y="3816096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A7A8A"/>
                </a:solidFill>
              </a:rPr>
              <a:t>Revenue impact: Cost savings</a:t>
            </a:r>
            <a:endParaRPr lang="en-US" sz="1467" dirty="0"/>
          </a:p>
        </p:txBody>
      </p:sp>
      <p:sp>
        <p:nvSpPr>
          <p:cNvPr id="19" name="Text 16"/>
          <p:cNvSpPr/>
          <p:nvPr/>
        </p:nvSpPr>
        <p:spPr>
          <a:xfrm>
            <a:off x="11094720" y="3499104"/>
            <a:ext cx="8534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3A7A5A"/>
                </a:solidFill>
              </a:rPr>
              <a:t>&lt; −$1.50</a:t>
            </a:r>
            <a:endParaRPr lang="en-US" sz="1867" dirty="0"/>
          </a:p>
        </p:txBody>
      </p:sp>
      <p:sp>
        <p:nvSpPr>
          <p:cNvPr id="20" name="Shape 17"/>
          <p:cNvSpPr/>
          <p:nvPr/>
        </p:nvSpPr>
        <p:spPr>
          <a:xfrm>
            <a:off x="7193280" y="4876800"/>
            <a:ext cx="4754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Shape 18"/>
          <p:cNvSpPr/>
          <p:nvPr/>
        </p:nvSpPr>
        <p:spPr>
          <a:xfrm>
            <a:off x="7193280" y="4876800"/>
            <a:ext cx="97536" cy="1645920"/>
          </a:xfrm>
          <a:prstGeom prst="rect">
            <a:avLst/>
          </a:prstGeom>
          <a:solidFill>
            <a:srgbClr val="8A5A2A"/>
          </a:solidFill>
          <a:ln w="12700">
            <a:solidFill>
              <a:srgbClr val="8A5A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19"/>
          <p:cNvSpPr/>
          <p:nvPr/>
        </p:nvSpPr>
        <p:spPr>
          <a:xfrm>
            <a:off x="7437120" y="4998720"/>
            <a:ext cx="426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2137"/>
                </a:solidFill>
              </a:rPr>
              <a:t>Scenario: Snow-Making / Run Length</a:t>
            </a:r>
            <a:endParaRPr lang="en-US" sz="1467" dirty="0"/>
          </a:p>
        </p:txBody>
      </p:sp>
      <p:sp>
        <p:nvSpPr>
          <p:cNvPr id="23" name="Text 20"/>
          <p:cNvSpPr/>
          <p:nvPr/>
        </p:nvSpPr>
        <p:spPr>
          <a:xfrm>
            <a:off x="7437120" y="5388864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A7A8A"/>
                </a:solidFill>
              </a:rPr>
              <a:t>Price impact: $0.00</a:t>
            </a:r>
            <a:endParaRPr lang="en-US" sz="1467" dirty="0"/>
          </a:p>
        </p:txBody>
      </p:sp>
      <p:sp>
        <p:nvSpPr>
          <p:cNvPr id="24" name="Text 21"/>
          <p:cNvSpPr/>
          <p:nvPr/>
        </p:nvSpPr>
        <p:spPr>
          <a:xfrm>
            <a:off x="7437120" y="5705856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A7A8A"/>
                </a:solidFill>
              </a:rPr>
              <a:t>Revenue impact: Negligible</a:t>
            </a:r>
            <a:endParaRPr lang="en-US" sz="1467" dirty="0"/>
          </a:p>
        </p:txBody>
      </p:sp>
      <p:sp>
        <p:nvSpPr>
          <p:cNvPr id="25" name="Text 22"/>
          <p:cNvSpPr/>
          <p:nvPr/>
        </p:nvSpPr>
        <p:spPr>
          <a:xfrm>
            <a:off x="11094720" y="5388864"/>
            <a:ext cx="8534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8A5A2A"/>
                </a:solidFill>
              </a:rPr>
              <a:t>$0.00</a:t>
            </a:r>
            <a:endParaRPr lang="en-US" sz="1867" dirty="0"/>
          </a:p>
        </p:txBody>
      </p:sp>
      <p:sp>
        <p:nvSpPr>
          <p:cNvPr id="26" name="Text 23"/>
          <p:cNvSpPr/>
          <p:nvPr/>
        </p:nvSpPr>
        <p:spPr>
          <a:xfrm>
            <a:off x="11338560" y="6339840"/>
            <a:ext cx="48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4A7A8A"/>
                </a:solidFill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0B6E7A"/>
                </a:solidFill>
              </a:rPr>
              <a:t>MODELING RESULTS &amp; ANALYSIS</a:t>
            </a:r>
            <a:endParaRPr lang="en-US" sz="1067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36576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Closure — Finding the Safe Threshold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609600" y="1072896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A7A8A"/>
                </a:solidFill>
              </a:rPr>
              <a:t>Closing up to 4–5 least-used runs generates cost savings with minimal revenue impact. Beyond 6 closures, the model predicts a sharp price decline.</a:t>
            </a:r>
            <a:endParaRPr lang="en-US" sz="1467" dirty="0"/>
          </a:p>
        </p:txBody>
      </p:sp>
      <p:pic>
        <p:nvPicPr>
          <p:cNvPr id="6" name="Image 0" descr="/home/claude/figures/05_modeling_cell70_fig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7680" y="1584960"/>
            <a:ext cx="11216640" cy="4876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0" y="6339840"/>
            <a:ext cx="48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4A7A8A"/>
                </a:solidFill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268224"/>
            <a:ext cx="1097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4AABB8"/>
                </a:solidFill>
              </a:rPr>
              <a:t>SUMMARY &amp; CONCLUSION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4267" dirty="0"/>
          </a:p>
        </p:txBody>
      </p:sp>
      <p:sp>
        <p:nvSpPr>
          <p:cNvPr id="5" name="Shape 3"/>
          <p:cNvSpPr/>
          <p:nvPr/>
        </p:nvSpPr>
        <p:spPr>
          <a:xfrm>
            <a:off x="487680" y="1341120"/>
            <a:ext cx="5608320" cy="2316480"/>
          </a:xfrm>
          <a:prstGeom prst="rect">
            <a:avLst/>
          </a:prstGeom>
          <a:solidFill>
            <a:srgbClr val="0B2030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36" y="1560576"/>
            <a:ext cx="463296" cy="4632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87424"/>
            <a:ext cx="463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Increase — Proceed Cautiously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7136" y="2097024"/>
            <a:ext cx="518160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supports a higher price ($97.96) but given Big Mountain already leads Montana pricing, the ±$9–10 error margin, and unaccounted guest costs, any increase should be validated with customer research first.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87680" y="3901440"/>
            <a:ext cx="5608320" cy="2316480"/>
          </a:xfrm>
          <a:prstGeom prst="rect">
            <a:avLst/>
          </a:prstGeom>
          <a:solidFill>
            <a:srgbClr val="0B203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36" y="4120896"/>
            <a:ext cx="463296" cy="4632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4047744"/>
            <a:ext cx="463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Proceed with the New Chairlift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07136" y="4657344"/>
            <a:ext cx="518160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supports a $2.22 price increase worth ~$3.9M in seasonal revenue — well above the $1.54M operating cost increase.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61760" y="1341120"/>
            <a:ext cx="5608320" cy="2316480"/>
          </a:xfrm>
          <a:prstGeom prst="rect">
            <a:avLst/>
          </a:prstGeom>
          <a:solidFill>
            <a:srgbClr val="0B203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216" y="1560576"/>
            <a:ext cx="463296" cy="4632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54240" y="1487424"/>
            <a:ext cx="463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 4–5 Least-Used Runs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681216" y="2097024"/>
            <a:ext cx="518160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revenue impact at this level. Avoid 6+ closures — the model predicts a sharp ticket price decline beyond that threshold.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61760" y="3901440"/>
            <a:ext cx="5608320" cy="2316480"/>
          </a:xfrm>
          <a:prstGeom prst="rect">
            <a:avLst/>
          </a:prstGeom>
          <a:solidFill>
            <a:srgbClr val="0B2030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216" y="4120896"/>
            <a:ext cx="463296" cy="4632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54240" y="4047744"/>
            <a:ext cx="463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Deprioritize Snow-Making &amp; Run Extensions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681216" y="4657344"/>
            <a:ext cx="518160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3 and 4 produced zero modeled price impact. These investments should not be prioritized.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16"/>
          <p:cNvSpPr/>
          <p:nvPr/>
        </p:nvSpPr>
        <p:spPr>
          <a:xfrm>
            <a:off x="365760" y="6486144"/>
            <a:ext cx="1146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Big Mountain Resort  |  Springboard Data Science Capstone  |  Model MAE: ~$9.40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568</Words>
  <Application>Microsoft Macintosh PowerPoint</Application>
  <PresentationFormat>Widescreen</PresentationFormat>
  <Paragraphs>97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Paul, Jacob</dc:creator>
  <cp:lastModifiedBy>Paul, Jacob</cp:lastModifiedBy>
  <cp:revision>1</cp:revision>
  <dcterms:created xsi:type="dcterms:W3CDTF">2026-04-04T11:01:42Z</dcterms:created>
  <dcterms:modified xsi:type="dcterms:W3CDTF">2026-04-04T11:03:13Z</dcterms:modified>
</cp:coreProperties>
</file>